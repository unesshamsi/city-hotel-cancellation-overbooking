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City Hotel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t>Cancellation, Overbooking &amp; Deposit Policy</a:t>
            </a:r>
          </a:p>
          <a:p>
            <a:pPr>
              <a:defRPr sz="1600">
                <a:solidFill>
                  <a:srgbClr val="DCE6F0"/>
                </a:solidFill>
              </a:defRPr>
            </a:pPr>
            <a:r>
              <a:t>Problem → Method → Findings →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City Hotel decision analytics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  <a:latin typeface="Aptos Display"/>
              </a:defRPr>
            </a:pPr>
            <a:r>
              <a:t>1. Problem &amp; decision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  <a:latin typeface="Aptos"/>
              </a:defRPr>
            </a:pPr>
            <a:r>
              <a:t>Three decisions must work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669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3C3C3C"/>
                </a:solidFill>
                <a:latin typeface="Aptos"/>
              </a:defRPr>
            </a:pPr>
            <a:r>
              <a:t>• Predict cancellation risk at booking time.</a:t>
            </a:r>
          </a:p>
          <a:p>
            <a:pPr>
              <a:spcAft>
                <a:spcPts val="700"/>
              </a:spcAft>
              <a:defRPr sz="1800">
                <a:solidFill>
                  <a:srgbClr val="3C3C3C"/>
                </a:solidFill>
                <a:latin typeface="Aptos"/>
              </a:defRPr>
            </a:pPr>
            <a:r>
              <a:t>• Set a profitable overbooking level using calibrated probabilities.</a:t>
            </a:r>
          </a:p>
          <a:p>
            <a:pPr>
              <a:spcAft>
                <a:spcPts val="700"/>
              </a:spcAft>
              <a:defRPr sz="1800">
                <a:solidFill>
                  <a:srgbClr val="3C3C3C"/>
                </a:solidFill>
                <a:latin typeface="Aptos"/>
              </a:defRPr>
            </a:pPr>
            <a:r>
              <a:t>• Use deposits only where risk justifies conversion loss.</a:t>
            </a:r>
          </a:p>
          <a:p>
            <a:pPr>
              <a:spcAft>
                <a:spcPts val="700"/>
              </a:spcAft>
              <a:defRPr sz="1800">
                <a:solidFill>
                  <a:srgbClr val="3C3C3C"/>
                </a:solidFill>
                <a:latin typeface="Aptos"/>
              </a:defRPr>
            </a:pPr>
            <a:r>
              <a:t>• Room inventory is absent from the source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417320"/>
            <a:ext cx="4297680" cy="841248"/>
          </a:xfrm>
          <a:prstGeom prst="roundRect">
            <a:avLst/>
          </a:prstGeom>
          <a:solidFill>
            <a:srgbClr val="EAF2F8"/>
          </a:solidFill>
          <a:ln>
            <a:solidFill>
              <a:srgbClr val="2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31152" y="1527048"/>
            <a:ext cx="39319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65D"/>
                </a:solidFill>
              </a:defRPr>
            </a:pPr>
            <a:r>
              <a:t>Cleaned City Hotel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53,273 rows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651760"/>
            <a:ext cx="4297680" cy="841248"/>
          </a:xfrm>
          <a:prstGeom prst="roundRect">
            <a:avLst/>
          </a:prstGeom>
          <a:solidFill>
            <a:srgbClr val="EAF2F8"/>
          </a:solidFill>
          <a:ln>
            <a:solidFill>
              <a:srgbClr val="2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31152" y="2761488"/>
            <a:ext cx="39319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65D"/>
                </a:solidFill>
              </a:defRPr>
            </a:pPr>
            <a:r>
              <a:t>Temporal test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7,932 bookings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3886200"/>
            <a:ext cx="4297680" cy="841248"/>
          </a:xfrm>
          <a:prstGeom prst="roundRect">
            <a:avLst/>
          </a:prstGeom>
          <a:solidFill>
            <a:srgbClr val="EAF2F8"/>
          </a:solidFill>
          <a:ln>
            <a:solidFill>
              <a:srgbClr val="2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3995928"/>
            <a:ext cx="39319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65D"/>
                </a:solidFill>
              </a:defRPr>
            </a:pPr>
            <a:r>
              <a:t>Data span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2015–2017 arrivals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City Hotel decision analytics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  <a:latin typeface="Aptos Display"/>
              </a:defRPr>
            </a:pPr>
            <a:r>
              <a:t>2.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  <a:latin typeface="Aptos"/>
              </a:defRPr>
            </a:pPr>
            <a:r>
              <a:t>Temporal split, calibration and policy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6492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3C3C3C"/>
                </a:solidFill>
                <a:latin typeface="Aptos"/>
              </a:defRPr>
            </a:pPr>
            <a:r>
              <a:t>• Train through 2016-12-12; calibrate 2016-12-13 to 2017-02-24; test from 2017-02-25.</a:t>
            </a:r>
          </a:p>
          <a:p>
            <a:pPr>
              <a:spcAft>
                <a:spcPts val="700"/>
              </a:spcAft>
              <a:defRPr sz="1600">
                <a:solidFill>
                  <a:srgbClr val="3C3C3C"/>
                </a:solidFill>
                <a:latin typeface="Aptos"/>
              </a:defRPr>
            </a:pPr>
            <a:r>
              <a:t>• Exclude outcome leakage fields.</a:t>
            </a:r>
          </a:p>
          <a:p>
            <a:pPr>
              <a:spcAft>
                <a:spcPts val="700"/>
              </a:spcAft>
              <a:defRPr sz="1600">
                <a:solidFill>
                  <a:srgbClr val="3C3C3C"/>
                </a:solidFill>
                <a:latin typeface="Aptos"/>
              </a:defRPr>
            </a:pPr>
            <a:r>
              <a:t>• Benchmark logistic regression against gradient boosting.</a:t>
            </a:r>
          </a:p>
          <a:p>
            <a:pPr>
              <a:spcAft>
                <a:spcPts val="700"/>
              </a:spcAft>
              <a:defRPr sz="1600">
                <a:solidFill>
                  <a:srgbClr val="3C3C3C"/>
                </a:solidFill>
                <a:latin typeface="Aptos"/>
              </a:defRPr>
            </a:pPr>
            <a:r>
              <a:t>• Use sigmoid / isotonic probability calibration.</a:t>
            </a:r>
          </a:p>
          <a:p>
            <a:pPr>
              <a:spcAft>
                <a:spcPts val="700"/>
              </a:spcAft>
              <a:defRPr sz="1600">
                <a:solidFill>
                  <a:srgbClr val="3C3C3C"/>
                </a:solidFill>
                <a:latin typeface="Aptos"/>
              </a:defRPr>
            </a:pPr>
            <a:r>
              <a:t>• Build a second near-arrival model as a diagnostic ceiling.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417320"/>
            <a:ext cx="3611880" cy="749808"/>
          </a:xfrm>
          <a:prstGeom prst="roundRect">
            <a:avLst/>
          </a:prstGeom>
          <a:solidFill>
            <a:srgbClr val="EAF2F8"/>
          </a:solidFill>
          <a:ln>
            <a:solidFill>
              <a:srgbClr val="2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618488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7365D"/>
                </a:solidFill>
              </a:defRPr>
            </a:pPr>
            <a:r>
              <a:t>BOOKING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2496312"/>
            <a:ext cx="3611880" cy="749808"/>
          </a:xfrm>
          <a:prstGeom prst="roundRect">
            <a:avLst/>
          </a:prstGeom>
          <a:solidFill>
            <a:srgbClr val="DDEFE8"/>
          </a:solidFill>
          <a:ln>
            <a:solidFill>
              <a:srgbClr val="2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2697480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7365D"/>
                </a:solidFill>
              </a:defRPr>
            </a:pPr>
            <a:r>
              <a:t>RISK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3575304"/>
            <a:ext cx="3611880" cy="749808"/>
          </a:xfrm>
          <a:prstGeom prst="roundRect">
            <a:avLst/>
          </a:prstGeom>
          <a:solidFill>
            <a:srgbClr val="F5EEDC"/>
          </a:solidFill>
          <a:ln>
            <a:solidFill>
              <a:srgbClr val="2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3776472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7365D"/>
                </a:solidFill>
              </a:defRPr>
            </a:pPr>
            <a:r>
              <a:t>CALIBRATED 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4654296"/>
            <a:ext cx="3611880" cy="749808"/>
          </a:xfrm>
          <a:prstGeom prst="roundRect">
            <a:avLst/>
          </a:prstGeom>
          <a:solidFill>
            <a:srgbClr val="EBE1F5"/>
          </a:solidFill>
          <a:ln>
            <a:solidFill>
              <a:srgbClr val="2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4855464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7365D"/>
                </a:solidFill>
              </a:defRPr>
            </a:pPr>
            <a:r>
              <a:t>POLICY SIM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City Hotel decision analytics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  <a:latin typeface="Aptos Display"/>
              </a:defRPr>
            </a:pPr>
            <a:r>
              <a:t>3. Findings — cancellation 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  <a:latin typeface="Aptos"/>
              </a:defRPr>
            </a:pPr>
            <a:r>
              <a:t>Lead time is the strongest simple driver</a:t>
            </a:r>
          </a:p>
        </p:txBody>
      </p:sp>
      <p:pic>
        <p:nvPicPr>
          <p:cNvPr id="4" name="Picture 3" descr="01_cancel_by_lead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3657600" cy="4434840"/>
          </a:xfrm>
          <a:prstGeom prst="rect">
            <a:avLst/>
          </a:prstGeom>
        </p:spPr>
      </p:pic>
      <p:pic>
        <p:nvPicPr>
          <p:cNvPr id="5" name="Picture 4" descr="03_cancel_by_seg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298448"/>
            <a:ext cx="3657600" cy="4434840"/>
          </a:xfrm>
          <a:prstGeom prst="rect">
            <a:avLst/>
          </a:prstGeom>
        </p:spPr>
      </p:pic>
      <p:pic>
        <p:nvPicPr>
          <p:cNvPr id="6" name="Picture 5" descr="04_monthly_trend_holiday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298448"/>
            <a:ext cx="3657600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6235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C3C3C"/>
                </a:solidFill>
                <a:latin typeface="Aptos"/>
              </a:defRPr>
            </a:pPr>
            <a:r>
              <a:t>• ≈11% cancellation at 0–7 days</a:t>
            </a:r>
          </a:p>
          <a:p>
            <a:pPr>
              <a:spcAft>
                <a:spcPts val="700"/>
              </a:spcAft>
              <a:defRPr sz="1200">
                <a:solidFill>
                  <a:srgbClr val="3C3C3C"/>
                </a:solidFill>
                <a:latin typeface="Aptos"/>
              </a:defRPr>
            </a:pPr>
            <a:r>
              <a:t>• ≈51% at 365+ days</a:t>
            </a:r>
          </a:p>
          <a:p>
            <a:pPr>
              <a:spcAft>
                <a:spcPts val="700"/>
              </a:spcAft>
              <a:defRPr sz="1200">
                <a:solidFill>
                  <a:srgbClr val="3C3C3C"/>
                </a:solidFill>
                <a:latin typeface="Aptos"/>
              </a:defRPr>
            </a:pPr>
            <a:r>
              <a:t>• Segment and seasonal context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City Hotel decision analytics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  <a:latin typeface="Aptos Display"/>
              </a:defRPr>
            </a:pPr>
            <a:r>
              <a:t>4. Model performance &amp; SHAP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  <a:latin typeface="Aptos"/>
              </a:defRPr>
            </a:pPr>
            <a:r>
              <a:t>GBM improves ranking; explainability flags governance risks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2560320" cy="960120"/>
          </a:xfrm>
          <a:prstGeom prst="roundRect">
            <a:avLst/>
          </a:prstGeom>
          <a:solidFill>
            <a:srgbClr val="EAF2F8"/>
          </a:solidFill>
          <a:ln>
            <a:solidFill>
              <a:srgbClr val="2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7365D"/>
                </a:solidFill>
              </a:defRPr>
            </a:pPr>
            <a:r>
              <a:t>0.775</a:t>
            </a:r>
          </a:p>
          <a:p>
            <a:pPr algn="ctr">
              <a:defRPr sz="950">
                <a:solidFill>
                  <a:srgbClr val="3C3C3C"/>
                </a:solidFill>
              </a:defRPr>
            </a:pPr>
            <a:r>
              <a:t>Booking-time GBM AUC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170432"/>
            <a:ext cx="2560320" cy="960120"/>
          </a:xfrm>
          <a:prstGeom prst="roundRect">
            <a:avLst/>
          </a:prstGeom>
          <a:solidFill>
            <a:srgbClr val="EAF2F8"/>
          </a:solidFill>
          <a:ln>
            <a:solidFill>
              <a:srgbClr val="2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28016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7365D"/>
                </a:solidFill>
              </a:defRPr>
            </a:pPr>
            <a:r>
              <a:t>0.545</a:t>
            </a:r>
          </a:p>
          <a:p>
            <a:pPr algn="ctr">
              <a:defRPr sz="950">
                <a:solidFill>
                  <a:srgbClr val="3C3C3C"/>
                </a:solidFill>
              </a:defRPr>
            </a:pPr>
            <a:r>
              <a:t>Booking-time 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170432"/>
            <a:ext cx="2560320" cy="960120"/>
          </a:xfrm>
          <a:prstGeom prst="roundRect">
            <a:avLst/>
          </a:prstGeom>
          <a:solidFill>
            <a:srgbClr val="EAF2F8"/>
          </a:solidFill>
          <a:ln>
            <a:solidFill>
              <a:srgbClr val="2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28016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7365D"/>
                </a:solidFill>
              </a:defRPr>
            </a:pPr>
            <a:r>
              <a:t>0.800</a:t>
            </a:r>
          </a:p>
          <a:p>
            <a:pPr algn="ctr">
              <a:defRPr sz="950">
                <a:solidFill>
                  <a:srgbClr val="3C3C3C"/>
                </a:solidFill>
              </a:defRPr>
            </a:pPr>
            <a:r>
              <a:t>Near-arrival GBM AUC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19" y="1170432"/>
            <a:ext cx="2560320" cy="960120"/>
          </a:xfrm>
          <a:prstGeom prst="roundRect">
            <a:avLst/>
          </a:prstGeom>
          <a:solidFill>
            <a:srgbClr val="EAF2F8"/>
          </a:solidFill>
          <a:ln>
            <a:solidFill>
              <a:srgbClr val="2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28016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7365D"/>
                </a:solidFill>
              </a:defRPr>
            </a:pPr>
            <a:r>
              <a:t>0.168</a:t>
            </a:r>
          </a:p>
          <a:p>
            <a:pPr algn="ctr">
              <a:defRPr sz="950">
                <a:solidFill>
                  <a:srgbClr val="3C3C3C"/>
                </a:solidFill>
              </a:defRPr>
            </a:pPr>
            <a:r>
              <a:t>Brier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3C3C3C"/>
                </a:solidFill>
                <a:latin typeface="Aptos"/>
              </a:defRPr>
            </a:pPr>
            <a:r>
              <a:t>• country — 0.748</a:t>
            </a:r>
          </a:p>
          <a:p>
            <a:pPr>
              <a:spcAft>
                <a:spcPts val="700"/>
              </a:spcAft>
              <a:defRPr sz="1400">
                <a:solidFill>
                  <a:srgbClr val="3C3C3C"/>
                </a:solidFill>
                <a:latin typeface="Aptos"/>
              </a:defRPr>
            </a:pPr>
            <a:r>
              <a:t>• total_of_special_requests — 0.665</a:t>
            </a:r>
          </a:p>
          <a:p>
            <a:pPr>
              <a:spcAft>
                <a:spcPts val="700"/>
              </a:spcAft>
              <a:defRPr sz="1400">
                <a:solidFill>
                  <a:srgbClr val="3C3C3C"/>
                </a:solidFill>
                <a:latin typeface="Aptos"/>
              </a:defRPr>
            </a:pPr>
            <a:r>
              <a:t>• market_segment — 0.648</a:t>
            </a:r>
          </a:p>
          <a:p>
            <a:pPr>
              <a:spcAft>
                <a:spcPts val="700"/>
              </a:spcAft>
              <a:defRPr sz="1400">
                <a:solidFill>
                  <a:srgbClr val="3C3C3C"/>
                </a:solidFill>
                <a:latin typeface="Aptos"/>
              </a:defRPr>
            </a:pPr>
            <a:r>
              <a:t>• lead_time — 0.378</a:t>
            </a:r>
          </a:p>
          <a:p>
            <a:pPr>
              <a:spcAft>
                <a:spcPts val="700"/>
              </a:spcAft>
              <a:defRPr sz="1400">
                <a:solidFill>
                  <a:srgbClr val="3C3C3C"/>
                </a:solidFill>
                <a:latin typeface="Aptos"/>
              </a:defRPr>
            </a:pPr>
            <a:r>
              <a:t>• adr — 0.351</a:t>
            </a:r>
          </a:p>
          <a:p>
            <a:pPr>
              <a:spcAft>
                <a:spcPts val="700"/>
              </a:spcAft>
              <a:defRPr sz="1400">
                <a:solidFill>
                  <a:srgbClr val="3C3C3C"/>
                </a:solidFill>
                <a:latin typeface="Aptos"/>
              </a:defRPr>
            </a:pPr>
            <a:r>
              <a:t>• required_car_parking_spaces — 0.319</a:t>
            </a:r>
          </a:p>
        </p:txBody>
      </p:sp>
      <p:pic>
        <p:nvPicPr>
          <p:cNvPr id="13" name="Picture 12" descr="pr_curve_booking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514600"/>
            <a:ext cx="2743200" cy="3200400"/>
          </a:xfrm>
          <a:prstGeom prst="rect">
            <a:avLst/>
          </a:prstGeom>
        </p:spPr>
      </p:pic>
      <p:pic>
        <p:nvPicPr>
          <p:cNvPr id="14" name="Picture 13" descr="calibration_booking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514600"/>
            <a:ext cx="2743200" cy="3200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City Hotel decision analytics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  <a:latin typeface="Aptos Display"/>
              </a:defRPr>
            </a:pPr>
            <a:r>
              <a:t>5. Findings — overbooking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  <a:latin typeface="Aptos"/>
              </a:defRPr>
            </a:pPr>
            <a:r>
              <a:t>Base profit curve peaks at k=10</a:t>
            </a:r>
          </a:p>
        </p:txBody>
      </p:sp>
      <p:pic>
        <p:nvPicPr>
          <p:cNvPr id="4" name="Picture 3" descr="profit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40080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417320"/>
            <a:ext cx="4206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3C3C3C"/>
                </a:solidFill>
                <a:latin typeface="Aptos"/>
              </a:defRPr>
            </a:pPr>
            <a:r>
              <a:t>• Assumed capacity: 60 rooms</a:t>
            </a:r>
          </a:p>
          <a:p>
            <a:pPr>
              <a:spcAft>
                <a:spcPts val="700"/>
              </a:spcAft>
              <a:defRPr sz="1600">
                <a:solidFill>
                  <a:srgbClr val="3C3C3C"/>
                </a:solidFill>
                <a:latin typeface="Aptos"/>
              </a:defRPr>
            </a:pPr>
            <a:r>
              <a:t>• Base walk cost: €200</a:t>
            </a:r>
          </a:p>
          <a:p>
            <a:pPr>
              <a:spcAft>
                <a:spcPts val="700"/>
              </a:spcAft>
              <a:defRPr sz="1600">
                <a:solidFill>
                  <a:srgbClr val="3C3C3C"/>
                </a:solidFill>
                <a:latin typeface="Aptos"/>
              </a:defRPr>
            </a:pPr>
            <a:r>
              <a:t>• Optimal overbooking: k=10</a:t>
            </a:r>
          </a:p>
          <a:p>
            <a:pPr>
              <a:spcAft>
                <a:spcPts val="700"/>
              </a:spcAft>
              <a:defRPr sz="1600">
                <a:solidFill>
                  <a:srgbClr val="3C3C3C"/>
                </a:solidFill>
                <a:latin typeface="Aptos"/>
              </a:defRPr>
            </a:pPr>
            <a:r>
              <a:t>• Modeled uplift: ≈€57/night</a:t>
            </a:r>
          </a:p>
          <a:p>
            <a:pPr>
              <a:spcAft>
                <a:spcPts val="700"/>
              </a:spcAft>
              <a:defRPr sz="1600">
                <a:solidFill>
                  <a:srgbClr val="3C3C3C"/>
                </a:solidFill>
                <a:latin typeface="Aptos"/>
              </a:defRPr>
            </a:pPr>
            <a:r>
              <a:t>• Low/base/high optimum: 12 / 10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City Hotel decision analytics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  <a:latin typeface="Aptos Display"/>
              </a:defRPr>
            </a:pPr>
            <a:r>
              <a:t>6. Findings — deposit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  <a:latin typeface="Aptos"/>
              </a:defRPr>
            </a:pPr>
            <a:r>
              <a:t>Target actionable high-risk bookings; validate through experiment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4663440" cy="822960"/>
          </a:xfrm>
          <a:prstGeom prst="roundRect">
            <a:avLst/>
          </a:prstGeom>
          <a:solidFill>
            <a:srgbClr val="EAF2F8"/>
          </a:solidFill>
          <a:ln>
            <a:solidFill>
              <a:srgbClr val="2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39"/>
            <a:ext cx="4251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65D"/>
                </a:solidFill>
              </a:defRPr>
            </a:pPr>
            <a:r>
              <a:t>Low risk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&lt;20% → 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77439"/>
            <a:ext cx="4663440" cy="822960"/>
          </a:xfrm>
          <a:prstGeom prst="roundRect">
            <a:avLst/>
          </a:prstGeom>
          <a:solidFill>
            <a:srgbClr val="EAF2F8"/>
          </a:solidFill>
          <a:ln>
            <a:solidFill>
              <a:srgbClr val="2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599"/>
            <a:ext cx="4251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65D"/>
                </a:solidFill>
              </a:defRPr>
            </a:pPr>
            <a:r>
              <a:t>Medium risk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20–40% → 10%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429000"/>
            <a:ext cx="4663440" cy="822960"/>
          </a:xfrm>
          <a:prstGeom prst="roundRect">
            <a:avLst/>
          </a:prstGeom>
          <a:solidFill>
            <a:srgbClr val="EAF2F8"/>
          </a:solidFill>
          <a:ln>
            <a:solidFill>
              <a:srgbClr val="2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66160"/>
            <a:ext cx="4251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65D"/>
                </a:solidFill>
              </a:defRPr>
            </a:pPr>
            <a:r>
              <a:t>High risk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&gt;40% → 25%</a:t>
            </a:r>
          </a:p>
        </p:txBody>
      </p:sp>
      <p:pic>
        <p:nvPicPr>
          <p:cNvPr id="10" name="Picture 9" descr="deposit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34440"/>
            <a:ext cx="5669280" cy="4480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47548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3C3C3C"/>
                </a:solidFill>
                <a:latin typeface="Aptos"/>
              </a:defRPr>
            </a:pPr>
            <a:r>
              <a:t>• ≈437 cancellations prevented</a:t>
            </a:r>
          </a:p>
          <a:p>
            <a:pPr>
              <a:spcAft>
                <a:spcPts val="700"/>
              </a:spcAft>
              <a:defRPr sz="1400">
                <a:solidFill>
                  <a:srgbClr val="3C3C3C"/>
                </a:solidFill>
                <a:latin typeface="Aptos"/>
              </a:defRPr>
            </a:pPr>
            <a:r>
              <a:t>• ≈209 bookings lost</a:t>
            </a:r>
          </a:p>
          <a:p>
            <a:pPr>
              <a:spcAft>
                <a:spcPts val="700"/>
              </a:spcAft>
              <a:defRPr sz="1400">
                <a:solidFill>
                  <a:srgbClr val="3C3C3C"/>
                </a:solidFill>
                <a:latin typeface="Aptos"/>
              </a:defRPr>
            </a:pPr>
            <a:r>
              <a:t>• ≈€168,246 modeled net uplift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City Hotel decision analytics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  <a:latin typeface="Aptos Display"/>
              </a:defRPr>
            </a:pPr>
            <a:r>
              <a:t>7. Recommendations &amp;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  <a:latin typeface="Aptos"/>
              </a:defRPr>
            </a:pPr>
            <a:r>
              <a:t>Shadow → pilot →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3C3C3C"/>
                </a:solidFill>
                <a:latin typeface="Aptos"/>
              </a:defRPr>
            </a:pPr>
            <a:r>
              <a:t>• Start with booking-time calibrated GBM + k=10 under validated capacity assumptions.</a:t>
            </a:r>
          </a:p>
          <a:p>
            <a:pPr>
              <a:spcAft>
                <a:spcPts val="700"/>
              </a:spcAft>
              <a:defRPr sz="1600">
                <a:solidFill>
                  <a:srgbClr val="3C3C3C"/>
                </a:solidFill>
                <a:latin typeface="Aptos"/>
              </a:defRPr>
            </a:pPr>
            <a:r>
              <a:t>• Pilot 0% / 10% / 25% deposits for actionable bookings only.</a:t>
            </a:r>
          </a:p>
          <a:p>
            <a:pPr>
              <a:spcAft>
                <a:spcPts val="700"/>
              </a:spcAft>
              <a:defRPr sz="1600">
                <a:solidFill>
                  <a:srgbClr val="3C3C3C"/>
                </a:solidFill>
                <a:latin typeface="Aptos"/>
              </a:defRPr>
            </a:pPr>
            <a:r>
              <a:t>• Validate current capacity, walk cost, calibration and fairness before deployment.</a:t>
            </a:r>
          </a:p>
          <a:p>
            <a:pPr>
              <a:spcAft>
                <a:spcPts val="700"/>
              </a:spcAft>
              <a:defRPr sz="1600">
                <a:solidFill>
                  <a:srgbClr val="3C3C3C"/>
                </a:solidFill>
                <a:latin typeface="Aptos"/>
              </a:defRPr>
            </a:pPr>
            <a:r>
              <a:t>• Monitor contribution margin, walk rate, booking loss and calibration monthly.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12280" y="1874519"/>
            <a:ext cx="1417320" cy="868680"/>
          </a:xfrm>
          <a:prstGeom prst="roundRect">
            <a:avLst/>
          </a:prstGeom>
          <a:solidFill>
            <a:srgbClr val="EAF2F8"/>
          </a:solidFill>
          <a:ln>
            <a:solidFill>
              <a:srgbClr val="2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0" y="2121408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Shadow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874519"/>
            <a:ext cx="1417320" cy="868680"/>
          </a:xfrm>
          <a:prstGeom prst="roundRect">
            <a:avLst/>
          </a:prstGeom>
          <a:solidFill>
            <a:srgbClr val="DDEFE8"/>
          </a:solidFill>
          <a:ln>
            <a:solidFill>
              <a:srgbClr val="2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2121408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A/B 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95560" y="1874519"/>
            <a:ext cx="1417320" cy="868680"/>
          </a:xfrm>
          <a:prstGeom prst="roundRect">
            <a:avLst/>
          </a:prstGeom>
          <a:solidFill>
            <a:srgbClr val="F5EEDC"/>
          </a:solidFill>
          <a:ln>
            <a:solidFill>
              <a:srgbClr val="2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87000" y="2121408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324612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3C3C3C"/>
                </a:solidFill>
                <a:latin typeface="Aptos"/>
              </a:defRPr>
            </a:pPr>
            <a:r>
              <a:t>• Country = monitoring, not deposit pricing.</a:t>
            </a:r>
          </a:p>
          <a:p>
            <a:pPr>
              <a:spcAft>
                <a:spcPts val="700"/>
              </a:spcAft>
              <a:defRPr sz="1500">
                <a:solidFill>
                  <a:srgbClr val="3C3C3C"/>
                </a:solidFill>
                <a:latin typeface="Aptos"/>
              </a:defRPr>
            </a:pPr>
            <a:r>
              <a:t>• Human override + rollback are mandatory.</a:t>
            </a:r>
          </a:p>
          <a:p>
            <a:pPr>
              <a:spcAft>
                <a:spcPts val="700"/>
              </a:spcAft>
              <a:defRPr sz="1500">
                <a:solidFill>
                  <a:srgbClr val="3C3C3C"/>
                </a:solidFill>
                <a:latin typeface="Aptos"/>
              </a:defRPr>
            </a:pPr>
            <a:r>
              <a:t>• Refresh the historic model with current data before scale.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City Hotel decision analytics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  <a:latin typeface="Aptos Display"/>
              </a:defRPr>
            </a:pPr>
            <a:r>
              <a:t>8.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  <a:latin typeface="Aptos"/>
              </a:defRPr>
            </a:pPr>
            <a:r>
              <a:t>A conservative, measurable revenue-management program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10515600" cy="868680"/>
          </a:xfrm>
          <a:prstGeom prst="roundRect">
            <a:avLst/>
          </a:prstGeom>
          <a:solidFill>
            <a:srgbClr val="D9EAF7"/>
          </a:solidFill>
          <a:ln>
            <a:solidFill>
              <a:srgbClr val="2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17904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7365D"/>
                </a:solidFill>
              </a:defRPr>
            </a:pPr>
            <a:r>
              <a:t>Use the model to improve the decision — not to automate away judgement.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6675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3C3C3C"/>
                </a:solidFill>
                <a:latin typeface="Aptos"/>
              </a:defRPr>
            </a:pPr>
            <a:r>
              <a:t>• Primary model: booking-time GBM, AUC 0.775.</a:t>
            </a:r>
          </a:p>
          <a:p>
            <a:pPr>
              <a:spcAft>
                <a:spcPts val="700"/>
              </a:spcAft>
              <a:defRPr sz="1800">
                <a:solidFill>
                  <a:srgbClr val="3C3C3C"/>
                </a:solidFill>
                <a:latin typeface="Aptos"/>
              </a:defRPr>
            </a:pPr>
            <a:r>
              <a:t>• Base overbooking: k=10 under stated assumptions.</a:t>
            </a:r>
          </a:p>
          <a:p>
            <a:pPr>
              <a:spcAft>
                <a:spcPts val="700"/>
              </a:spcAft>
              <a:defRPr sz="1800">
                <a:solidFill>
                  <a:srgbClr val="3C3C3C"/>
                </a:solidFill>
                <a:latin typeface="Aptos"/>
              </a:defRPr>
            </a:pPr>
            <a:r>
              <a:t>• Deposits: 0% / 10% / 25% by risk tier.</a:t>
            </a:r>
          </a:p>
          <a:p>
            <a:pPr>
              <a:spcAft>
                <a:spcPts val="700"/>
              </a:spcAft>
              <a:defRPr sz="1800">
                <a:solidFill>
                  <a:srgbClr val="3C3C3C"/>
                </a:solidFill>
                <a:latin typeface="Aptos"/>
              </a:defRPr>
            </a:pPr>
            <a:r>
              <a:t>• Next step: current-data pilot with fairness, privacy and legal gates.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251460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3C3C3C"/>
                </a:solidFill>
                <a:latin typeface="Aptos"/>
              </a:defRPr>
            </a:pPr>
            <a:r>
              <a:t>• Financial lift</a:t>
            </a:r>
          </a:p>
          <a:p>
            <a:pPr>
              <a:spcAft>
                <a:spcPts val="700"/>
              </a:spcAft>
              <a:defRPr sz="1500">
                <a:solidFill>
                  <a:srgbClr val="3C3C3C"/>
                </a:solidFill>
                <a:latin typeface="Aptos"/>
              </a:defRPr>
            </a:pPr>
            <a:r>
              <a:t>• Calibration</a:t>
            </a:r>
          </a:p>
          <a:p>
            <a:pPr>
              <a:spcAft>
                <a:spcPts val="700"/>
              </a:spcAft>
              <a:defRPr sz="1500">
                <a:solidFill>
                  <a:srgbClr val="3C3C3C"/>
                </a:solidFill>
                <a:latin typeface="Aptos"/>
              </a:defRPr>
            </a:pPr>
            <a:r>
              <a:t>• Fairness</a:t>
            </a:r>
          </a:p>
          <a:p>
            <a:pPr>
              <a:spcAft>
                <a:spcPts val="700"/>
              </a:spcAft>
              <a:defRPr sz="1500">
                <a:solidFill>
                  <a:srgbClr val="3C3C3C"/>
                </a:solidFill>
                <a:latin typeface="Aptos"/>
              </a:defRPr>
            </a:pPr>
            <a:r>
              <a:t>• Customer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City Hotel decision analytics |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